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355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64008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Alphabet Recognition from MediaPipe Hand Landmarks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2236859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Mining &amp; Machine Learning Project </a:t>
            </a:r>
            <a:b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3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in Artificial Intelligence and Data Engineering — Academic Year 2025–2026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8321040" cy="18288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27432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Valeriano — ID: 585114   |   Marco Guglielmi — ID: 720166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14/06/2026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22529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411480" y="1225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0700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Dataset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145389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definition · features · EDA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76072" y="160934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411480" y="195681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1148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9385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Experiments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14400" y="218541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model selection · hyperparameter optimization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99339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EF2FA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8138160" y="199339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C2B4A"/>
                </a:solidFill>
              </a:rPr>
              <a:t>PART 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76072" y="234086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411480" y="268833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1148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700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Results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14400" y="291693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· cross-validation · final model performance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76072" y="307238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Shape 20"/>
          <p:cNvSpPr/>
          <p:nvPr/>
        </p:nvSpPr>
        <p:spPr>
          <a:xfrm>
            <a:off x="411480" y="341985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41148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4015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&amp; local techniques · consistency with domain knowledge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38160" y="345643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E0F5F4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8138160" y="345643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008F84"/>
                </a:solidFill>
              </a:rPr>
              <a:t>PART 2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76072" y="3803904"/>
            <a:ext cx="18288" cy="3108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411480" y="4151376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1148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13308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14400" y="437997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· limitations · future directions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TECHNICAL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Pipeline &amp; Results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278892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· feature engineering · model selection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· evaluation · test-set results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Dataset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481328"/>
            <a:ext cx="4069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recognition of American Sign Language (ASL) alphabet letters from static hand images, to support accessible communication between deaf users and non-signers.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type: supervised multi-class classification (26 classes, A–Z).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relevance: enables real-time fingerspelling interfaces and assistive tools without deep learning complexity.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challenge: many ASL letters share nearly identical hand configurations — distinguishing them requires precise geometric descriptors, not raw pixels.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15568"/>
            <a:ext cx="4069080" cy="2962656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828032" y="1225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7276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2" name="Text 10"/>
          <p:cNvSpPr/>
          <p:nvPr/>
        </p:nvSpPr>
        <p:spPr>
          <a:xfrm>
            <a:off x="4736592" y="16093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0" y="16093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26-class classification (A–Z)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4708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736592" y="18836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0" y="18836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Alphabet Dataset (Kaggle) — 154,924 samples, 95 features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12140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736592" y="21579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0" y="2157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‘label’ — one of 26 ASL alphabet letters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4736592" y="243230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0" y="243230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numerical: 63 landmarks + 12 distances + 10 angles + 10 vectors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63440" y="267004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4736592" y="270662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70662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(invalid detections removed at extraction stage)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294436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4736592" y="29809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298094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5k–7.7k per class — approximately balanced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3218688"/>
            <a:ext cx="4069080" cy="265176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36592" y="3255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325526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5-outer × 4-inner nested CV, group-stratified splits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493008"/>
            <a:ext cx="4069080" cy="265176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736592" y="352958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Metric(s)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35040" y="35295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F1-score (primary), Accuracy, Precision, Recall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PROBLEM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55496" y="3388766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1 — Final class distribution after cleaning (154,924 samples, 26 classes)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663440" y="3405632"/>
            <a:ext cx="4069080" cy="775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2 — Correlation matrix of all 95 engineered features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4480560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from EDA: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7091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76.1% extraction success rate — 48,563 images discarded (no hand detected by MediaPipe). Classes mostly balanced (5k–7.7k samples) except T (2,308) after manual curation of a labeling inconsistency. Strong correlations among fingertip-distance features; wrist-to-fingertip and raw landmark coordinates are partially redundant.</a:t>
            </a:r>
            <a:endParaRPr lang="en-US" sz="950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3AC589D7-8970-E739-0837-AC96E1F84E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207" y="1124712"/>
            <a:ext cx="4223657" cy="2216530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7AA501CA-5FE0-23BC-73E6-4ACDE3FB3E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850" y="679450"/>
            <a:ext cx="2978799" cy="26055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fingertip-to-fingertip and wrist-to-fingertip distances; 10 joint angles per finger; 10 wrist-to-fingertip directional vectors (x,y)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normalized: wrist translated to origin, scaled by wrist–middle MCP distance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categorical variables — all features are numerical after dropping metadata columns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imputation needed — invalid samples removed at extraction (0 missing values)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explicit selection — all features retained (embedded importance via tree models)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permutation importance confirms index_middle_tip_distance dominates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indirectly: model performance stable across folds with full 95-feature set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 features retained (63 landmarks + 32 engineered)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Features?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17920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Fingertip distances capture hand openness; angles encode flexion; vectors preserve directional orientation — all directly meaningful for ASL gesture discrimination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(filepath, handedness, score) dropped before training; z-coordinates excluded from engineered features (MediaPipe depth is noisy)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Fig. 8 (permutation importance) for post-hoc validation of feature relevance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Pipeline: Avoiding Data Leakage &amp; Bias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4A6587"/>
          </a:solidFill>
          <a:ln w="12700">
            <a:solidFill>
              <a:srgbClr val="4A658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27632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700784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01368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10" name="Text 8"/>
          <p:cNvSpPr/>
          <p:nvPr/>
        </p:nvSpPr>
        <p:spPr>
          <a:xfrm>
            <a:off x="1801368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3136392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3236976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98848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572000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72584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672584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34456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007608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8192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108192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(held-out fold)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70064" y="1545336"/>
            <a:ext cx="173736" cy="731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443216" y="1472184"/>
            <a:ext cx="164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</a:rPr>
              <a:t>▶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43800" y="1207008"/>
            <a:ext cx="1261872" cy="749808"/>
          </a:xfrm>
          <a:prstGeom prst="roundRect">
            <a:avLst>
              <a:gd name="adj" fmla="val 10976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7543800" y="1207008"/>
            <a:ext cx="1261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148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3949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Prevention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preprocessing fitted only on training folds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Pipeline: preprocessing fitted only inside each training fold; scaling used for KNN and Approx RBF SVM, not for HistGradientBoosting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built from feature hashes prevent near-duplicate samples from appearing in both train and test partitions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1" name="Text 29"/>
          <p:cNvSpPr/>
          <p:nvPr/>
        </p:nvSpPr>
        <p:spPr>
          <a:xfrm>
            <a:off x="337413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Handling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37413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SMOTE needed — dataset approximately balanced; class weights enabled for RF and SVM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applied only inside CV folds where used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 chosen to give equal weight to all 26 letters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2121408"/>
            <a:ext cx="26517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6208776" y="2231136"/>
            <a:ext cx="23957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Justification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08776" y="2578608"/>
            <a:ext cx="23957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metric: macro F1, because each class matters equally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substitutions are more harmful than missed detections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macro precision, and macro recall reported for completeness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PIPELINE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&amp; Hyperparameter Optimization</a:t>
            </a:r>
            <a:endParaRPr lang="en-US" sz="2400" dirty="0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11D9915B-DFBF-D4C4-AB3B-019CDC6AF2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5" r="54084"/>
          <a:stretch>
            <a:fillRect/>
          </a:stretch>
        </p:blipFill>
        <p:spPr bwMode="auto">
          <a:xfrm>
            <a:off x="972636" y="1310785"/>
            <a:ext cx="2853774" cy="25730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Key Decisions Title">
            <a:extLst>
              <a:ext uri="{FF2B5EF4-FFF2-40B4-BE49-F238E27FC236}">
                <a16:creationId xmlns:a16="http://schemas.microsoft.com/office/drawing/2014/main" id="{61E466B2-B6D0-1773-8DAF-4125EC36A149}"/>
              </a:ext>
            </a:extLst>
          </p:cNvPr>
          <p:cNvSpPr txBox="1"/>
          <p:nvPr/>
        </p:nvSpPr>
        <p:spPr>
          <a:xfrm>
            <a:off x="4663440" y="1170940"/>
            <a:ext cx="4069080" cy="20005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it-IT" sz="1300" b="1">
                <a:solidFill>
                  <a:srgbClr val="1F2D4B"/>
                </a:solidFill>
                <a:latin typeface="Aptos Display" panose="020B0004020202020204" pitchFamily="34" charset="0"/>
              </a:rPr>
              <a:t>Key Decisions</a:t>
            </a:r>
          </a:p>
        </p:txBody>
      </p:sp>
      <p:graphicFrame>
        <p:nvGraphicFramePr>
          <p:cNvPr id="6" name="Key Decisions Table">
            <a:extLst>
              <a:ext uri="{FF2B5EF4-FFF2-40B4-BE49-F238E27FC236}">
                <a16:creationId xmlns:a16="http://schemas.microsoft.com/office/drawing/2014/main" id="{1C1E5C83-37EE-D002-30EC-553F006E4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077874"/>
              </p:ext>
            </p:extLst>
          </p:nvPr>
        </p:nvGraphicFramePr>
        <p:xfrm>
          <a:off x="4572000" y="1549400"/>
          <a:ext cx="4445000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1100">
                  <a:extLst>
                    <a:ext uri="{9D8B030D-6E8A-4147-A177-3AD203B41FA5}">
                      <a16:colId xmlns:a16="http://schemas.microsoft.com/office/drawing/2014/main" val="3966800048"/>
                    </a:ext>
                  </a:extLst>
                </a:gridCol>
                <a:gridCol w="3263900">
                  <a:extLst>
                    <a:ext uri="{9D8B030D-6E8A-4147-A177-3AD203B41FA5}">
                      <a16:colId xmlns:a16="http://schemas.microsoft.com/office/drawing/2014/main" val="3812131635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it-IT" sz="850" b="1" i="0">
                          <a:solidFill>
                            <a:srgbClr val="1F2D4B"/>
                          </a:solidFill>
                          <a:latin typeface="Aptos" panose="020B0004020202020204" pitchFamily="34" charset="0"/>
                        </a:rPr>
                        <a:t>Candidate models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20" b="0" i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KNN; Decision Tree; Random Forest; HistGradientBoosting; Approx RBF SVM</a:t>
                      </a:r>
                      <a:endParaRPr lang="it-IT" sz="820" b="0" i="0">
                        <a:solidFill>
                          <a:srgbClr val="445E84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127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it-IT" sz="850" b="1" i="0">
                          <a:solidFill>
                            <a:srgbClr val="1F2D4B"/>
                          </a:solidFill>
                          <a:latin typeface="Aptos" panose="020B0004020202020204" pitchFamily="34" charset="0"/>
                        </a:rPr>
                        <a:t>Validation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20" b="0" i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Nested CV: 5 outer folds x 4 inner folds; groups from feature hashes</a:t>
                      </a:r>
                      <a:endParaRPr lang="it-IT" sz="820" b="0" i="0">
                        <a:solidFill>
                          <a:srgbClr val="445E84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5268996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it-IT" sz="850" b="1" i="0">
                          <a:solidFill>
                            <a:srgbClr val="1F2D4B"/>
                          </a:solidFill>
                          <a:latin typeface="Aptos" panose="020B0004020202020204" pitchFamily="34" charset="0"/>
                        </a:rPr>
                        <a:t>Objective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20" b="0" i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Macro F1-score, giving equal weight to all 26 ASL classes</a:t>
                      </a:r>
                      <a:endParaRPr lang="it-IT" sz="820" b="0" i="0">
                        <a:solidFill>
                          <a:srgbClr val="445E84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77675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it-IT" sz="850" b="1" i="0" dirty="0">
                          <a:solidFill>
                            <a:srgbClr val="1F2D4B"/>
                          </a:solidFill>
                          <a:latin typeface="Aptos" panose="020B0004020202020204" pitchFamily="34" charset="0"/>
                        </a:rPr>
                        <a:t>Search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20" b="0" i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Exhaustive grid search on model-specific hyperparameters</a:t>
                      </a:r>
                      <a:endParaRPr lang="it-IT" sz="820" b="0" i="0">
                        <a:solidFill>
                          <a:srgbClr val="445E84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88166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it-IT" sz="850" b="1" i="0">
                          <a:solidFill>
                            <a:srgbClr val="1F2D4B"/>
                          </a:solidFill>
                          <a:latin typeface="Aptos" panose="020B0004020202020204" pitchFamily="34" charset="0"/>
                        </a:rPr>
                        <a:t>Selected model</a:t>
                      </a: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20" b="0" i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HistGradientBoosting: outer macro F1 97.31%; stable best config across all outer folds</a:t>
                      </a:r>
                      <a:endParaRPr lang="it-IT" sz="820" b="0" i="0">
                        <a:solidFill>
                          <a:srgbClr val="445E84"/>
                        </a:solidFill>
                        <a:latin typeface="Aptos" panose="020B0004020202020204" pitchFamily="34" charset="0"/>
                      </a:endParaRPr>
                    </a:p>
                  </a:txBody>
                  <a:tcPr marL="76200" marR="76200" marT="38100" marB="38100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702797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lang="it-IT" sz="850" b="1" i="0">
                          <a:solidFill>
                            <a:srgbClr val="1F2D4B"/>
                          </a:solidFill>
                          <a:latin typeface="Aptos" panose="020B0004020202020204" pitchFamily="34" charset="0"/>
                        </a:rPr>
                        <a:t>Statistical support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sz="820" b="0" i="0" dirty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Friedman p=0.00067; Wilcoxon HGB vs competitors p=0.03125; </a:t>
                      </a:r>
                      <a:r>
                        <a:rPr lang="it-IT" sz="820" b="0" i="0" dirty="0" err="1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Nemenyi</a:t>
                      </a:r>
                      <a:r>
                        <a:rPr lang="it-IT" sz="820" b="0" i="0" dirty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 </a:t>
                      </a:r>
                      <a:r>
                        <a:rPr lang="it-IT" sz="820" b="0" i="0" dirty="0" err="1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rank</a:t>
                      </a:r>
                      <a:r>
                        <a:rPr lang="it-IT" sz="820" b="0" i="0" dirty="0">
                          <a:solidFill>
                            <a:srgbClr val="445E84"/>
                          </a:solidFill>
                          <a:latin typeface="Aptos" panose="020B0004020202020204" pitchFamily="34" charset="0"/>
                        </a:rPr>
                        <a:t> 1.0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208661"/>
                  </a:ext>
                </a:extLst>
              </a:tr>
            </a:tbl>
          </a:graphicData>
        </a:graphic>
      </p:graphicFrame>
      <p:sp>
        <p:nvSpPr>
          <p:cNvPr id="7" name="Key Decisions Accent Rule">
            <a:extLst>
              <a:ext uri="{FF2B5EF4-FFF2-40B4-BE49-F238E27FC236}">
                <a16:creationId xmlns:a16="http://schemas.microsoft.com/office/drawing/2014/main" id="{E82423EC-1680-F8D7-2CCA-30A368A22025}"/>
              </a:ext>
            </a:extLst>
          </p:cNvPr>
          <p:cNvSpPr/>
          <p:nvPr/>
        </p:nvSpPr>
        <p:spPr>
          <a:xfrm>
            <a:off x="4572000" y="1454150"/>
            <a:ext cx="4445000" cy="27940"/>
          </a:xfrm>
          <a:prstGeom prst="rect">
            <a:avLst/>
          </a:prstGeom>
          <a:solidFill>
            <a:srgbClr val="00B2A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Outer-Fold Evaluation Results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(Outer Folds)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1148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1148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251460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97.31%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51460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1772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461772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97.33%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61772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Precision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20840" y="4005072"/>
            <a:ext cx="1938528" cy="877824"/>
          </a:xfrm>
          <a:prstGeom prst="roundRect">
            <a:avLst>
              <a:gd name="adj" fmla="val 10417"/>
            </a:avLst>
          </a:prstGeom>
          <a:solidFill>
            <a:srgbClr val="F0F4FA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720840" y="4078224"/>
            <a:ext cx="1938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20840" y="453542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Competitor (RF)</a:t>
            </a:r>
            <a:endParaRPr lang="en-US" sz="900" dirty="0"/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E30ECFD5-54A8-A716-20E9-933555AC9EB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966" y="996215"/>
            <a:ext cx="3158114" cy="27071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Immagine 27">
            <a:extLst>
              <a:ext uri="{FF2B5EF4-FFF2-40B4-BE49-F238E27FC236}">
                <a16:creationId xmlns:a16="http://schemas.microsoft.com/office/drawing/2014/main" id="{5A865A8A-A442-0EAC-4726-6253751F27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494" y="1050839"/>
            <a:ext cx="4511508" cy="2707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13716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CRITICAL ANALYSIS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Discussion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0175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the model work? · What did it get wrong and why?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7A8F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· future directions · domain impact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Explainability: What Drives the Model Overall?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75488" y="3561747"/>
            <a:ext cx="4069080" cy="854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8 — Permutation importance: top 20 features ranked by macro F1 decrease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importance: shuffles each feature and measures macro F1 drop — model-agnostic, appropriate for HistGradientBoosting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index_middle_tip_distance dominates by an order of magnitude (ΔF1=0.071) — expected: it separates U/V, R/U and many other near-minimal pairs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other features show much smaller individual permutation effects — the model relies on one dominant geometric cue plus weaker supporting signals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performance: 97.31% macro F1 achieved with interpretable geometry — a smaller feature subset could be investigated, but no feature-removal step was used in the final pipeline</a:t>
            </a:r>
            <a:endParaRPr lang="en-US" sz="11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C4F31FF-5BFA-DE5A-BE25-63EBD966BF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457" y="1188719"/>
            <a:ext cx="3337893" cy="2336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EXPLAINABILITY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Explainability: Why This Specific Prediction?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3933623"/>
            <a:ext cx="4069080" cy="308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8FA6"/>
                </a:solidFill>
              </a:rPr>
              <a:t>Fig. 9 — SHAP waterfall: highest-confidence misclassification (true U, predicted W)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Analysis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true label U, predicted W — selected as highest-confidence misclassification from OOF predictions (f(x)=3.789 vs base E[f(X)]=−9.188)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Ring-finger features pushed toward W: ring_pinky_tip_distance (+3.09), ring_angle_1 (+2.28), thumb_index_tip_distance (+1.75)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consistent: index_middle_tip_distance (globally #1) here contributes −0.43 — overridden by combined ring/pinky evidence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ASL anatomy: U folds the ring finger, W spreads it — an inadvertently extended ring finger makes U look like W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geometrically coherent failure — the model is not confused randomly, it responds to a genuinely ambiguous input near the U/W decision boundary</a:t>
            </a:r>
            <a:endParaRPr lang="en-US" sz="11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237E0131-847F-75F3-429D-6760AC0AA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209" y="1097280"/>
            <a:ext cx="2663036" cy="279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Analysis: What Did the Model Get Wrong and Why?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Reverse-Engineering Errors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690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cluster along geometric boundaries: N↔M (~400 total), O→C, U→R, G↔H — not random noise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M/N: ring_pinky_tip_distance takes ambiguous values; O/C: depth-encoded aperture lost in 2D features; G/H: lateral orientation collapses under camera angle variation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Confusion-matrix and top-pair analysis confirm that M/N and O/C remain difficult even after feature engineering — these pairs sit near genuine geometric boundaries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major confusions have a clear geometric explanation rooted in ASL hand anatomy; no evidence of spurious correlations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Systematic: residual errors concentrated at 3 structural boundaries (finger-count, depth-aperture, lateral-orientation) — addressable with targeted features or depth sensors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3950364"/>
            <a:ext cx="8321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94360" y="39730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Prior Work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256532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published baseline uses the same dataset + landmark-only pipeline. CNN-based approaches on raw pixels report similar accuracy but lack interpretability and require far more compute. Our 97.31% macro F1 with 95 geometric features and a traditional ML model is competitive while remaining fully explainable and suitable for real-time inference.</a:t>
            </a:r>
            <a:endParaRPr lang="en-US" sz="1050" dirty="0"/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A1D49F6-E372-6514-74EC-3926F546B79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7760"/>
            <a:ext cx="3955804" cy="229212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0" cy="246888"/>
          </a:xfrm>
          <a:prstGeom prst="roundRect">
            <a:avLst>
              <a:gd name="adj" fmla="val 22222"/>
            </a:avLst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2468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</a:rPr>
              <a:t>CRITICAL DISCUSSION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11480" y="56692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Impact, Limitations &amp; Future Directions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1148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41148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2651760" cy="137160"/>
          </a:xfrm>
          <a:prstGeom prst="rect">
            <a:avLst/>
          </a:prstGeom>
          <a:solidFill>
            <a:srgbClr val="008F84"/>
          </a:solidFill>
          <a:ln w="12700">
            <a:solidFill>
              <a:srgbClr val="008F8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52120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Impact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3949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fingerspelling interface for deaf or hard-of-hearing users — already deployed as a demo application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letter-by-letter communication between signers and non-signers; could integrate with text-to-speech or chat interfaces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substitutions (FP) are more harmful than missed detections (FN) — a wrong letter corrupts the message without alerting the user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oversight needed — model should show confidence score; low-confidence predictions should prompt user to retry the sign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324612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651760" cy="137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335584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from a single source with controlled lighting — real-world performance may degrade under poor illumination or unusual hand sizes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true 3D depth — MediaPipe z estimates too noisy to resolve depth-sensitive pairs (O/C); dynamic signs J and Z excluded entirely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single-frame assumption — full ASL communication requires motion, facial expression, and linguistic context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a single dataset — no deployment test with real users; MediaPipe detection failures (~24%) not accounted for in reported metrics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170432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080760" y="1170432"/>
            <a:ext cx="2651760" cy="384048"/>
          </a:xfrm>
          <a:prstGeom prst="roundRect">
            <a:avLst>
              <a:gd name="adj" fmla="val 2381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13716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90488" y="120700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08776" y="1627632"/>
            <a:ext cx="2377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 data: multiple signers, varied lighting, different camera angles to improve real-world robustness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features: ring-relative-to-middle distance for M/N; z-aware descriptors or RGB-D input for O/C; temporal sequences for J and Z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Post-processing language model: character-level n-gram prior to suppress structured substitution errors (M↔N, O→C) without changing the classifier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study: deploy with real signers, collect failure cases, iterate on feature engineering based on observed error distribution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A6"/>
          </a:solidFill>
          <a:ln w="12700">
            <a:solidFill>
              <a:srgbClr val="00B4A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411480" y="82296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11480" y="18288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Conclusions: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321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an end-to-end pipeline for ASL alphabet recognition (26 classes) from MediaPipe hand landmarks, achieving 97.49% accuracy and 97.31% macro F1 without any deep learning.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HistGradientBoosting selected via 5×4 nested CV with group-stratified splits; Friedman and Wilcoxon tests support its advantage, with Nemenyi strongest vs SVM and Decision Tree.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index_middle_tip_distance is the strongest global feature; all major errors are geometrically coherent — the model fails where the feature space structurally struggles to separate classes.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limitation: 2D engineered features struggle with depth-sensitive pairs (O/C), and M/N may need additional targeted ring-finger descriptors — both are concrete next steps.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3872484"/>
            <a:ext cx="8321040" cy="13716"/>
          </a:xfrm>
          <a:prstGeom prst="rect">
            <a:avLst/>
          </a:prstGeom>
          <a:solidFill>
            <a:srgbClr val="2E4A70"/>
          </a:solidFill>
          <a:ln w="12700">
            <a:solidFill>
              <a:srgbClr val="2E4A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411480" y="38404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5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Elia Valeriano (585114)   ·   Marco Guglielmi (720166)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4160520"/>
            <a:ext cx="8321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1811</Words>
  <Application>Microsoft Office PowerPoint</Application>
  <PresentationFormat>Presentazione su schermo (16:9)</PresentationFormat>
  <Paragraphs>201</Paragraphs>
  <Slides>15</Slides>
  <Notes>15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 &amp; Machine Learning — Project Presentation Template</dc:title>
  <dc:subject>PptxGenJS Presentation</dc:subject>
  <dc:creator>PptxGenJS</dc:creator>
  <cp:lastModifiedBy>Elia Valeriano</cp:lastModifiedBy>
  <cp:revision>11</cp:revision>
  <dcterms:created xsi:type="dcterms:W3CDTF">2026-05-31T14:27:00Z</dcterms:created>
  <dcterms:modified xsi:type="dcterms:W3CDTF">2026-06-13T07:36:43Z</dcterms:modified>
</cp:coreProperties>
</file>