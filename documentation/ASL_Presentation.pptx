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1194" y="5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3556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64008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5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&amp; MACHINE LEARNING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10515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 Alphabet Recognition from MediaPipe Hand Landmarks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11480" y="2236859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&amp; Machine Learning Project </a:t>
            </a:r>
            <a:br>
              <a:rPr lang="en-US" sz="13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M.Sc. in Artificial Intelligence and Data Engineering — Academic Year 2025–2026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2606040"/>
            <a:ext cx="8321040" cy="18288"/>
          </a:xfrm>
          <a:prstGeom prst="rect">
            <a:avLst/>
          </a:prstGeom>
          <a:solidFill>
            <a:srgbClr val="2E4A70"/>
          </a:solidFill>
          <a:ln w="12700">
            <a:solidFill>
              <a:srgbClr val="2E4A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411480" y="274320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Elia Valeriano — ID: 585114   |   Marco Guglielmi — ID: 720166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312724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14/06/2026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name="adj" fmla="val 22222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OVERVIEW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22529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411480" y="1225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2070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Dataset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145389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definition · features · EDA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76072" y="1609344"/>
            <a:ext cx="18288" cy="31089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411480" y="195681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1148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19385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&amp; Experiments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14400" y="218541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· model selection · hyperparameter optimization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38160" y="1993392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EEF2FA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8138160" y="199339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1C2B4A"/>
                </a:solidFill>
              </a:rPr>
              <a:t>PART 1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576072" y="2340864"/>
            <a:ext cx="18288" cy="31089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411480" y="268833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411480" y="2688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267004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Results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14400" y="291693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· cross-validation · final model performance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76072" y="3072384"/>
            <a:ext cx="18288" cy="31089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411480" y="341985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411480" y="3419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34015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14400" y="3648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&amp; local techniques · consistency with domain knowledge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138160" y="3456432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E0F5F4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8138160" y="345643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008F84"/>
                </a:solidFill>
              </a:rPr>
              <a:t>PART 2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76072" y="3803904"/>
            <a:ext cx="18288" cy="31089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Shape 27"/>
          <p:cNvSpPr/>
          <p:nvPr/>
        </p:nvSpPr>
        <p:spPr>
          <a:xfrm>
            <a:off x="411480" y="415137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411480" y="4151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14400" y="41330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Discussion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914400" y="437997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 · limitations · future directions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137160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TECHNICAL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182880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Problem, Pipeline &amp; Results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11480" y="278892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 · feature engineering · model selection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optimization · evaluation · test-set results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name="adj" fmla="val 22222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PROBLEM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 &amp; Dataset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11704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481328"/>
            <a:ext cx="4069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recognition of American Sign Language (ASL) alphabet letters from static hand images, to support accessible communication between deaf users and non-signers.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type: supervised multi-class classification (26 classes, A–Z).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relevance: enables real-time fingerspelling interfaces and assistive tools without deep learning complexity.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challenge: many ASL letters share nearly identical hand configurations — distinguishing them requires precise geometric descriptors, not raw pixels.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115568"/>
            <a:ext cx="4069080" cy="2962656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4828032" y="12252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at a Glance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572768"/>
            <a:ext cx="4069080" cy="265176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12" name="Text 10"/>
          <p:cNvSpPr/>
          <p:nvPr/>
        </p:nvSpPr>
        <p:spPr>
          <a:xfrm>
            <a:off x="4736592" y="160934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035040" y="160934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26-class classification (A–Z)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1847088"/>
            <a:ext cx="406908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4736592" y="188366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035040" y="188366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 Alphabet Dataset (Kaggle) — 154,924 samples, 95 features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2121408"/>
            <a:ext cx="4069080" cy="265176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4736592" y="215798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035040" y="215798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‘label’ — one of 26 ASL alphabet letters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2395728"/>
            <a:ext cx="406908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4736592" y="243230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035040" y="243230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numerical: 63 landmarks + 12 distances + 10 angles + 10 vectors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2670048"/>
            <a:ext cx="4069080" cy="265176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4736592" y="270662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035040" y="270662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(invalid detections removed at extraction stage)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2944368"/>
            <a:ext cx="406908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4736592" y="298094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035040" y="298094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5k–7.7k per class — approximately balanced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3218688"/>
            <a:ext cx="4069080" cy="265176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4736592" y="325526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035040" y="325526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5-outer × 4-inner nested CV, group-stratified splits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3493008"/>
            <a:ext cx="406908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4736592" y="352958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Metric(s)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035040" y="352958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F1-score (primary), Accuracy, Precision, Recall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name="adj" fmla="val 22222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PROBLEM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55496" y="3388766"/>
            <a:ext cx="406908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FA6"/>
                </a:solidFill>
              </a:rPr>
              <a:t>Fig. 1 — Final class distribution after cleaning (154,924 samples, 26 classes)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663440" y="3405632"/>
            <a:ext cx="406908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FA6"/>
                </a:solidFill>
              </a:rPr>
              <a:t>Fig. 2 — Correlation matrix of all 95 engineered features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448056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from EDA: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47091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76.1% extraction success rate — 48,563 images discarded (no hand detected by MediaPipe). Classes mostly balanced (5k–7.7k samples) except T (2,308) after manual curation of a labeling inconsistency. Strong correlations among fingertip-distance features; wrist-to-fingertip and raw landmark coordinates are partially redundant.</a:t>
            </a:r>
            <a:endParaRPr lang="en-US" sz="950" dirty="0"/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3AC589D7-8970-E739-0837-AC96E1F84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207" y="1124712"/>
            <a:ext cx="4223657" cy="2216530"/>
          </a:xfrm>
          <a:prstGeom prst="rect">
            <a:avLst/>
          </a:prstGeom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7AA501CA-5FE0-23BC-73E6-4ACDE3FB3E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2850" y="679450"/>
            <a:ext cx="2978799" cy="26055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name="adj" fmla="val 22222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PIPELINE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Selection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411480" y="1170432"/>
            <a:ext cx="2651760" cy="384048"/>
          </a:xfrm>
          <a:prstGeom prst="roundRect">
            <a:avLst>
              <a:gd name="adj" fmla="val 23810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2651760" cy="13716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521208" y="1207008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1627632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fingertip-to-fingertip and wrist-to-fingertip distances; 10 joint angles per finger; 10 wrist-to-fingertip directional vectors (x,y)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Landmarks normalized: wrist translated to origin, scaled by wrist–middle MCP distance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categorical variables — all features are numerical after dropping metadata columns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imputation needed — invalid samples removed at extraction (0 missing values)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170432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3246120" y="1170432"/>
            <a:ext cx="2651760" cy="384048"/>
          </a:xfrm>
          <a:prstGeom prst="roundRect">
            <a:avLst>
              <a:gd name="adj" fmla="val 23810"/>
            </a:avLst>
          </a:prstGeom>
          <a:solidFill>
            <a:srgbClr val="008F84"/>
          </a:solidFill>
          <a:ln w="12700">
            <a:solidFill>
              <a:srgbClr val="008F8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3246120" y="1417320"/>
            <a:ext cx="2651760" cy="137160"/>
          </a:xfrm>
          <a:prstGeom prst="rect">
            <a:avLst/>
          </a:prstGeom>
          <a:solidFill>
            <a:srgbClr val="008F84"/>
          </a:solidFill>
          <a:ln w="12700">
            <a:solidFill>
              <a:srgbClr val="008F8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3355848" y="1207008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Method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383280" y="1627632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explicit selection — all features retained (embedded importance via tree models)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Post-hoc permutation importance confirms index_middle_tip_distance dominates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indirectly: model performance stable across folds with full 95-feature set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features retained (63 landmarks + 32 engineered)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0760" y="1170432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6080760" y="1170432"/>
            <a:ext cx="2651760" cy="384048"/>
          </a:xfrm>
          <a:prstGeom prst="roundRect">
            <a:avLst>
              <a:gd name="adj" fmla="val 23810"/>
            </a:avLst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6080760" y="1417320"/>
            <a:ext cx="2651760" cy="13716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6190488" y="1207008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Features?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217920" y="1627632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Fingertip distances capture hand openness; angles encode flexion; vectors preserve directional orientation — all directly meaningful for ASL gesture discrimination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(filepath, handedness, score) dropped before training; z-coordinates excluded from engineered features (MediaPipe depth is noisy)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Fig. 8 (permutation importance) for post-hoc validation of feature relevance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name="adj" fmla="val 22222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PIPELINE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Pipeline: Avoiding Data Leakage &amp; Bias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1261872" cy="749808"/>
          </a:xfrm>
          <a:prstGeom prst="roundRect">
            <a:avLst>
              <a:gd name="adj" fmla="val 10976"/>
            </a:avLst>
          </a:prstGeom>
          <a:solidFill>
            <a:srgbClr val="4A6587"/>
          </a:solidFill>
          <a:ln w="12700">
            <a:solidFill>
              <a:srgbClr val="4A658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365760" y="1207008"/>
            <a:ext cx="1261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627632" y="1545336"/>
            <a:ext cx="173736" cy="73152"/>
          </a:xfrm>
          <a:prstGeom prst="rect">
            <a:avLst/>
          </a:prstGeom>
          <a:solidFill>
            <a:srgbClr val="7A8FA6"/>
          </a:solidFill>
          <a:ln w="12700">
            <a:solidFill>
              <a:srgbClr val="7A8F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700784" y="1472184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A6"/>
                </a:solidFill>
              </a:rPr>
              <a:t>▶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01368" y="1207008"/>
            <a:ext cx="1261872" cy="749808"/>
          </a:xfrm>
          <a:prstGeom prst="roundRect">
            <a:avLst>
              <a:gd name="adj" fmla="val 10976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10" name="Text 8"/>
          <p:cNvSpPr/>
          <p:nvPr/>
        </p:nvSpPr>
        <p:spPr>
          <a:xfrm>
            <a:off x="1801368" y="1207008"/>
            <a:ext cx="1261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063240" y="1545336"/>
            <a:ext cx="173736" cy="73152"/>
          </a:xfrm>
          <a:prstGeom prst="rect">
            <a:avLst/>
          </a:prstGeom>
          <a:solidFill>
            <a:srgbClr val="7A8FA6"/>
          </a:solidFill>
          <a:ln w="12700">
            <a:solidFill>
              <a:srgbClr val="7A8F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3136392" y="1472184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A6"/>
                </a:solidFill>
              </a:rPr>
              <a:t>▶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36976" y="1207008"/>
            <a:ext cx="1261872" cy="749808"/>
          </a:xfrm>
          <a:prstGeom prst="roundRect">
            <a:avLst>
              <a:gd name="adj" fmla="val 10976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3236976" y="1207008"/>
            <a:ext cx="1261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98848" y="1545336"/>
            <a:ext cx="173736" cy="73152"/>
          </a:xfrm>
          <a:prstGeom prst="rect">
            <a:avLst/>
          </a:prstGeom>
          <a:solidFill>
            <a:srgbClr val="7A8FA6"/>
          </a:solidFill>
          <a:ln w="12700">
            <a:solidFill>
              <a:srgbClr val="7A8F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4572000" y="1472184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A6"/>
                </a:solidFill>
              </a:rPr>
              <a:t>▶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72584" y="1207008"/>
            <a:ext cx="1261872" cy="749808"/>
          </a:xfrm>
          <a:prstGeom prst="roundRect">
            <a:avLst>
              <a:gd name="adj" fmla="val 10976"/>
            </a:avLst>
          </a:prstGeom>
          <a:solidFill>
            <a:srgbClr val="008F84"/>
          </a:solidFill>
          <a:ln w="12700">
            <a:solidFill>
              <a:srgbClr val="008F8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4672584" y="1207008"/>
            <a:ext cx="1261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34456" y="1545336"/>
            <a:ext cx="173736" cy="73152"/>
          </a:xfrm>
          <a:prstGeom prst="rect">
            <a:avLst/>
          </a:prstGeom>
          <a:solidFill>
            <a:srgbClr val="7A8FA6"/>
          </a:solidFill>
          <a:ln w="12700">
            <a:solidFill>
              <a:srgbClr val="7A8F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6007608" y="1472184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A6"/>
                </a:solidFill>
              </a:rPr>
              <a:t>▶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08192" y="1207008"/>
            <a:ext cx="1261872" cy="749808"/>
          </a:xfrm>
          <a:prstGeom prst="roundRect">
            <a:avLst>
              <a:gd name="adj" fmla="val 10976"/>
            </a:avLst>
          </a:prstGeom>
          <a:solidFill>
            <a:srgbClr val="008F84"/>
          </a:solidFill>
          <a:ln w="12700">
            <a:solidFill>
              <a:srgbClr val="008F8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6108192" y="1207008"/>
            <a:ext cx="1261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(held-out fold)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370064" y="1545336"/>
            <a:ext cx="173736" cy="73152"/>
          </a:xfrm>
          <a:prstGeom prst="rect">
            <a:avLst/>
          </a:prstGeom>
          <a:solidFill>
            <a:srgbClr val="7A8FA6"/>
          </a:solidFill>
          <a:ln w="12700">
            <a:solidFill>
              <a:srgbClr val="7A8F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7443216" y="1472184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A6"/>
                </a:solidFill>
              </a:rPr>
              <a:t>▶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543800" y="1207008"/>
            <a:ext cx="1261872" cy="749808"/>
          </a:xfrm>
          <a:prstGeom prst="roundRect">
            <a:avLst>
              <a:gd name="adj" fmla="val 10976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7543800" y="1207008"/>
            <a:ext cx="1261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" y="2121408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539496" y="2231136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 Prevention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9496" y="2578608"/>
            <a:ext cx="23957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preprocessing fitted only on training folds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 Pipeline: preprocessing fitted only inside each training fold; scaling used for KNN and Approx RBF SVM, not for HistGradientBoosting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built from feature hashes prevent near-duplicate samples from appearing in both train and test partitions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46120" y="2121408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3374136" y="2231136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Handling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374136" y="2578608"/>
            <a:ext cx="23957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SMOTE needed — dataset approximately balanced; class weights enabled for RF and SVM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weights applied only inside CV folds where used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chosen to give equal weight to all 26 letters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080760" y="2121408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6208776" y="2231136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Justification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08776" y="2578608"/>
            <a:ext cx="23957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metric: macro F1, because each class matters equally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substitutions are more harmful than missed detections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macro precision, and macro recall reported for completeness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name="adj" fmla="val 22222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PIPELINE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 &amp; Hyperparameter Optimization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663440" y="117043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508760"/>
            <a:ext cx="4069080" cy="4320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4736592" y="1447092"/>
            <a:ext cx="1463040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models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1810512"/>
            <a:ext cx="4069080" cy="432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13" name="Text 11"/>
          <p:cNvSpPr/>
          <p:nvPr/>
        </p:nvSpPr>
        <p:spPr>
          <a:xfrm>
            <a:off x="6263639" y="1460855"/>
            <a:ext cx="2743511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KNN, Decision Tree, Random Forest, HistGradientBoosting, Approx RBF SVM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36592" y="1764792"/>
            <a:ext cx="1463040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strategy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2112264"/>
            <a:ext cx="4069080" cy="4320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6263639" y="1774108"/>
            <a:ext cx="2377440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5-outer × 4-inner nested CV with group-stratified splits (groups from feature hashes)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36592" y="2083529"/>
            <a:ext cx="1463040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criterion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2414016"/>
            <a:ext cx="4069080" cy="432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6270791" y="2071326"/>
            <a:ext cx="2377440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F1-score (equal weight to all 26 classes)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32020" y="2378459"/>
            <a:ext cx="1463040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model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2715768"/>
            <a:ext cx="4069080" cy="4320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6263639" y="2346660"/>
            <a:ext cx="2588001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HistGradientBoosting — highest outer macro F1 (97.31%); Wilcoxon pairwise tests favored HGB against all competitors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36592" y="2680211"/>
            <a:ext cx="1463040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strategy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3017520"/>
            <a:ext cx="4069080" cy="432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6263640" y="2654100"/>
            <a:ext cx="2377440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Exhaustive Grid Search inside inner CV folds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32020" y="2965023"/>
            <a:ext cx="1463040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space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3319272"/>
            <a:ext cx="4069080" cy="4320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6259006" y="2950164"/>
            <a:ext cx="2748144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learning_rate, max_iter, max_leaf_nodes, min_samples_leaf, l2_regularization, early_stopping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31958" y="3252776"/>
            <a:ext cx="1463040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config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3621024"/>
            <a:ext cx="4069080" cy="432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6254372" y="3275504"/>
            <a:ext cx="2743510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lr=0.05, max_iter=800, max_leaf_nodes=31, min_samples_leaf=40, l2=0.0 — identical across all 5 outer folds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736592" y="3666744"/>
            <a:ext cx="1463040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</a:t>
            </a:r>
            <a:endParaRPr lang="en-US" sz="950" dirty="0"/>
          </a:p>
        </p:txBody>
      </p:sp>
      <p:pic>
        <p:nvPicPr>
          <p:cNvPr id="36" name="Immagine 35">
            <a:extLst>
              <a:ext uri="{FF2B5EF4-FFF2-40B4-BE49-F238E27FC236}">
                <a16:creationId xmlns:a16="http://schemas.microsoft.com/office/drawing/2014/main" id="{11D9915B-DFBF-D4C4-AB3B-019CDC6AF22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55" r="54084"/>
          <a:stretch>
            <a:fillRect/>
          </a:stretch>
        </p:blipFill>
        <p:spPr bwMode="auto">
          <a:xfrm>
            <a:off x="972636" y="1310785"/>
            <a:ext cx="2853774" cy="257302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 32"/>
          <p:cNvSpPr/>
          <p:nvPr/>
        </p:nvSpPr>
        <p:spPr>
          <a:xfrm>
            <a:off x="6263640" y="3666744"/>
            <a:ext cx="2377440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Friedman: stat=19.36, p=0.00067; Wilcoxon HGB vs others: p=0.03125; Nemenyi rank 1.0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name="adj" fmla="val 22222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Outer-Fold Evaluation Results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11480" y="3703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(Outer Folds)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4005072"/>
            <a:ext cx="1938528" cy="877824"/>
          </a:xfrm>
          <a:prstGeom prst="roundRect">
            <a:avLst>
              <a:gd name="adj" fmla="val 10417"/>
            </a:avLst>
          </a:prstGeom>
          <a:solidFill>
            <a:srgbClr val="F0F4FA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411480" y="4078224"/>
            <a:ext cx="1938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97.49%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11480" y="4535424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14600" y="4005072"/>
            <a:ext cx="1938528" cy="877824"/>
          </a:xfrm>
          <a:prstGeom prst="roundRect">
            <a:avLst>
              <a:gd name="adj" fmla="val 10417"/>
            </a:avLst>
          </a:prstGeom>
          <a:solidFill>
            <a:srgbClr val="F0F4FA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2514600" y="4078224"/>
            <a:ext cx="1938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97.31%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514600" y="4535424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17720" y="4005072"/>
            <a:ext cx="1938528" cy="877824"/>
          </a:xfrm>
          <a:prstGeom prst="roundRect">
            <a:avLst>
              <a:gd name="adj" fmla="val 10417"/>
            </a:avLst>
          </a:prstGeom>
          <a:solidFill>
            <a:srgbClr val="F0F4FA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4617720" y="4078224"/>
            <a:ext cx="1938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97.33%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617720" y="4535424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Precision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720840" y="4005072"/>
            <a:ext cx="1938528" cy="877824"/>
          </a:xfrm>
          <a:prstGeom prst="roundRect">
            <a:avLst>
              <a:gd name="adj" fmla="val 10417"/>
            </a:avLst>
          </a:prstGeom>
          <a:solidFill>
            <a:srgbClr val="F0F4FA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6720840" y="4078224"/>
            <a:ext cx="1938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96.83%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720840" y="4535424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Competitor (RF)</a:t>
            </a:r>
            <a:endParaRPr lang="en-US" sz="900" dirty="0"/>
          </a:p>
        </p:txBody>
      </p:sp>
      <p:pic>
        <p:nvPicPr>
          <p:cNvPr id="27" name="Immagine 26">
            <a:extLst>
              <a:ext uri="{FF2B5EF4-FFF2-40B4-BE49-F238E27FC236}">
                <a16:creationId xmlns:a16="http://schemas.microsoft.com/office/drawing/2014/main" id="{E30ECFD5-54A8-A716-20E9-933555AC9EB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966" y="996215"/>
            <a:ext cx="3158114" cy="2707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Immagine 27">
            <a:extLst>
              <a:ext uri="{FF2B5EF4-FFF2-40B4-BE49-F238E27FC236}">
                <a16:creationId xmlns:a16="http://schemas.microsoft.com/office/drawing/2014/main" id="{5A865A8A-A442-0EAC-4726-6253751F27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0494" y="1050839"/>
            <a:ext cx="4511508" cy="27071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137160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CRITICAL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1828800"/>
            <a:ext cx="8321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&amp;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Discussion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11480" y="30175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model work? · What did it get wrong and why?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· future directions · domain impact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name="adj" fmla="val 22222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EXPLAINABILITY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Explainability: What Drives the Model Overall?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75488" y="3561747"/>
            <a:ext cx="4069080" cy="85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FA6"/>
                </a:solidFill>
              </a:rPr>
              <a:t>Fig. 8 — Permutation importance: top 20 features ranked by macro F1 decrease</a:t>
            </a:r>
            <a:endParaRPr lang="en-US" sz="850" dirty="0"/>
          </a:p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663440" y="117043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63440" y="1508760"/>
            <a:ext cx="40690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importance: shuffles each feature and measures macro F1 drop — model-agnostic, appropriate for HistGradientBoosting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index_middle_tip_distance dominates by an order of magnitude (ΔF1=0.071) — expected: it separates U/V, R/U and many other near-minimal pairs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other features show much smaller individual permutation effects — the model relies on one dominant geometric cue plus weaker supporting signals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performance: 97.31% macro F1 achieved with interpretable geometry — a smaller feature subset could be investigated, but no feature-removal step was used in the final pipeline</a:t>
            </a:r>
            <a:endParaRPr lang="en-US" sz="1100" dirty="0"/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EC4F31FF-5BFA-DE5A-BE25-63EBD966BF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457" y="1188719"/>
            <a:ext cx="3337893" cy="2336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name="adj" fmla="val 22222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EXPLAINABILITY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Explainability: Why This Specific Prediction?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3933623"/>
            <a:ext cx="4069080" cy="308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FA6"/>
                </a:solidFill>
              </a:rPr>
              <a:t>Fig. 9 — SHAP waterfall: highest-confidence misclassification (true U, predicted W)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663440" y="117043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Analysis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63440" y="1508760"/>
            <a:ext cx="40690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Sample: true label U, predicted W — selected as highest-confidence misclassification from OOF predictions (f(x)=3.789 vs base E[f(X)]=−9.188)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Ring-finger features pushed toward W: ring_pinky_tip_distance (+3.09), ring_angle_1 (+2.28), thumb_index_tip_distance (+1.75)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consistent: index_middle_tip_distance (globally #1) here contributes −0.43 — overridden by combined ring/pinky evidence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with ASL anatomy: U folds the ring finger, W spreads it — an inadvertently extended ring finger makes U look like W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geometrically coherent failure — the model is not confused randomly, it responds to a genuinely ambiguous input near the U/W decision boundary</a:t>
            </a:r>
            <a:endParaRPr lang="en-US" sz="1100" dirty="0"/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237E0131-847F-75F3-429D-6760AC0AA2B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209" y="1097280"/>
            <a:ext cx="2663036" cy="27987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name="adj" fmla="val 22222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CRITICAL DISCUSSION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Analysis: What Did the Model Get Wrong and Why?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663440" y="117043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Reverse-Engineering Errors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63440" y="1508760"/>
            <a:ext cx="40690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cluster along geometric boundaries: N↔M (~400 total), O→C, U→R, G↔H — not random noise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M/N: ring_pinky_tip_distance takes ambiguous values; O/C: depth-encoded aperture lost in 2D features; G/H: lateral orientation collapses under camera angle variation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Confusion-matrix and top-pair analysis confirm that M/N and O/C remain difficult even after feature engineering — these pairs sit near genuine geometric boundaries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major confusions have a clear geometric explanation rooted in ASL hand anatomy; no evidence of spurious correlations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Systematic: residual errors concentrated at 3 structural boundaries (finger-count, depth-aperture, lateral-orientation) — addressable with targeted features or depth sensors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3950364"/>
            <a:ext cx="83210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594360" y="39730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Prior Work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4256532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direct published baseline uses the same dataset + landmark-only pipeline. CNN-based approaches on raw pixels report similar accuracy but lack interpretability and require far more compute. Our 97.31% macro F1 with 95 geometric features and a traditional ML model is competitive while remaining fully explainable and suitable for real-time inference.</a:t>
            </a:r>
            <a:endParaRPr lang="en-US" sz="1050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BA1D49F6-E372-6514-74EC-3926F546B79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86125" y="1136538"/>
            <a:ext cx="3800761" cy="141317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name="adj" fmla="val 22222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CRITICAL DISCUSSION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Impact, Limitations &amp; Future Directions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411480" y="1170432"/>
            <a:ext cx="2651760" cy="384048"/>
          </a:xfrm>
          <a:prstGeom prst="roundRect">
            <a:avLst>
              <a:gd name="adj" fmla="val 23810"/>
            </a:avLst>
          </a:prstGeom>
          <a:solidFill>
            <a:srgbClr val="008F84"/>
          </a:solidFill>
          <a:ln w="12700">
            <a:solidFill>
              <a:srgbClr val="008F8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2651760" cy="137160"/>
          </a:xfrm>
          <a:prstGeom prst="rect">
            <a:avLst/>
          </a:prstGeom>
          <a:solidFill>
            <a:srgbClr val="008F84"/>
          </a:solidFill>
          <a:ln w="12700">
            <a:solidFill>
              <a:srgbClr val="008F8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521208" y="1207008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Impact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39496" y="1627632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webcam fingerspelling interface for deaf or hard-of-hearing users — already deployed as a demo application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letter-by-letter communication between signers and non-signers; could integrate with text-to-speech or chat interfaces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substitutions (FP) are more harmful than missed detections (FN) — a wrong letter corrupts the message without alerting the user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oversight needed — model should show confidence score; low-confidence predictions should prompt user to retry the sign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1170432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3246120" y="1170432"/>
            <a:ext cx="2651760" cy="384048"/>
          </a:xfrm>
          <a:prstGeom prst="roundRect">
            <a:avLst>
              <a:gd name="adj" fmla="val 2381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3246120" y="1417320"/>
            <a:ext cx="2651760" cy="1371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3355848" y="1207008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374136" y="1627632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from a single source with controlled lighting — real-world performance may degrade under poor illumination or unusual hand sizes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true 3D depth — MediaPipe z estimates too noisy to resolve depth-sensitive pairs (O/C); dynamic signs J and Z excluded entirely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single-frame assumption — full ASL communication requires motion, facial expression, and linguistic context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on a single dataset — no deployment test with real users; MediaPipe detection failures (~24%) not accounted for in reported metrics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80760" y="1170432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6080760" y="1170432"/>
            <a:ext cx="2651760" cy="384048"/>
          </a:xfrm>
          <a:prstGeom prst="roundRect">
            <a:avLst>
              <a:gd name="adj" fmla="val 23810"/>
            </a:avLst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6080760" y="1417320"/>
            <a:ext cx="2651760" cy="13716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6190488" y="1207008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208776" y="1627632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diverse data: multiple signers, varied lighting, different camera angles to improve real-world robustness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features: ring-relative-to-middle distance for M/N; z-aware descriptors or RGB-D input for O/C; temporal sequences for J and Z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Post-processing language model: character-level n-gram prior to suppress structured substitution errors (M↔N, O→C) without changing the classifier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study: deploy with real signers, collect failure cases, iterate on feature engineering based on observed error distribution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11480" y="18288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Conclusions: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11480" y="2148840"/>
            <a:ext cx="8321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an end-to-end pipeline for ASL alphabet recognition (26 classes) from MediaPipe hand landmarks, achieving 97.49% accuracy and 97.31% macro F1 without any deep learning.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HistGradientBoosting selected via 5×4 nested CV with group-stratified splits; Friedman and Wilcoxon tests support its advantage, with Nemenyi strongest vs SVM and Decision Tree.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index_middle_tip_distance is the strongest global feature; all major errors are geometrically coherent — the model fails where the feature space structurally struggles to separate classes.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limitation: 2D engineered features struggle with depth-sensitive pairs (O/C), and M/N may need additional targeted ring-finger descriptors — both are concrete next steps.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3872484"/>
            <a:ext cx="8321040" cy="13716"/>
          </a:xfrm>
          <a:prstGeom prst="rect">
            <a:avLst/>
          </a:prstGeom>
          <a:solidFill>
            <a:srgbClr val="2E4A70"/>
          </a:solidFill>
          <a:ln w="12700">
            <a:solidFill>
              <a:srgbClr val="2E4A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411480" y="384048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Elia Valeriano (585114)   ·   Marco Guglielmi (720166)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416052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1887</Words>
  <Application>Microsoft Office PowerPoint</Application>
  <PresentationFormat>Presentazione su schermo (16:9)</PresentationFormat>
  <Paragraphs>205</Paragraphs>
  <Slides>15</Slides>
  <Notes>15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Mining &amp; Machine Learning — Project Presentation Template</dc:title>
  <dc:subject>PptxGenJS Presentation</dc:subject>
  <dc:creator>PptxGenJS</dc:creator>
  <cp:lastModifiedBy>Elia Valeriano</cp:lastModifiedBy>
  <cp:revision>9</cp:revision>
  <dcterms:created xsi:type="dcterms:W3CDTF">2026-05-31T14:27:00Z</dcterms:created>
  <dcterms:modified xsi:type="dcterms:W3CDTF">2026-06-12T13:40:43Z</dcterms:modified>
</cp:coreProperties>
</file>